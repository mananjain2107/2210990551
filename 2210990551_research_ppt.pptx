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8" r:id="rId9"/>
    <p:sldId id="279" r:id="rId10"/>
    <p:sldId id="281" r:id="rId11"/>
    <p:sldId id="284" r:id="rId12"/>
    <p:sldId id="289" r:id="rId13"/>
    <p:sldId id="285" r:id="rId14"/>
    <p:sldId id="287" r:id="rId15"/>
    <p:sldId id="288"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kash Jain" initials="AJ" lastIdx="1" clrIdx="0">
    <p:extLst>
      <p:ext uri="{19B8F6BF-5375-455C-9EA6-DF929625EA0E}">
        <p15:presenceInfo xmlns:p15="http://schemas.microsoft.com/office/powerpoint/2012/main" userId="63b56715352b5ec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832731"/>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IOHE </a:t>
            </a:r>
            <a:r>
              <a:rPr lang="en-US" b="1" dirty="0">
                <a:latin typeface="Times New Roman" panose="02020603050405020304" pitchFamily="18" charset="0"/>
                <a:ea typeface="Calibri" panose="020F0502020204030204" pitchFamily="34" charset="0"/>
                <a:cs typeface="Times New Roman" panose="02020603050405020304" pitchFamily="18" charset="0"/>
              </a:rPr>
              <a:t>Project at Industry </a:t>
            </a:r>
            <a:r>
              <a:rPr lang="en-IN" b="1" dirty="0">
                <a:latin typeface="Times New Roman" panose="02020603050405020304" pitchFamily="18" charset="0"/>
                <a:ea typeface="Calibri" panose="020F0502020204030204" pitchFamily="34" charset="0"/>
                <a:cs typeface="Times New Roman" panose="02020603050405020304" pitchFamily="18" charset="0"/>
              </a:rPr>
              <a:t>(22CS422)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600" dirty="0"/>
              <a:t>Loan Approval Prediction Using Machine Learning Algorithms</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p>
          <a:p>
            <a:pPr algn="ctr">
              <a:spcBef>
                <a:spcPts val="400"/>
              </a:spcBef>
            </a:pPr>
            <a:r>
              <a:rPr lang="en-US" sz="2000" spc="-1" dirty="0">
                <a:solidFill>
                  <a:srgbClr val="000000"/>
                </a:solidFill>
                <a:latin typeface="Times New Roman" panose="02020603050405020304" pitchFamily="18" charset="0"/>
                <a:cs typeface="Times New Roman" panose="02020603050405020304" pitchFamily="18" charset="0"/>
              </a:rPr>
              <a:t>Associate Professor, CSE</a:t>
            </a:r>
          </a:p>
          <a:p>
            <a:pPr algn="ctr">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graphicFrame>
        <p:nvGraphicFramePr>
          <p:cNvPr id="3" name="Table 2">
            <a:extLst>
              <a:ext uri="{FF2B5EF4-FFF2-40B4-BE49-F238E27FC236}">
                <a16:creationId xmlns:a16="http://schemas.microsoft.com/office/drawing/2014/main" id="{279CB88F-4621-089B-A731-95899B736D0C}"/>
              </a:ext>
            </a:extLst>
          </p:cNvPr>
          <p:cNvGraphicFramePr>
            <a:graphicFrameLocks noGrp="1"/>
          </p:cNvGraphicFramePr>
          <p:nvPr>
            <p:extLst>
              <p:ext uri="{D42A27DB-BD31-4B8C-83A1-F6EECF244321}">
                <p14:modId xmlns:p14="http://schemas.microsoft.com/office/powerpoint/2010/main" val="1435991463"/>
              </p:ext>
            </p:extLst>
          </p:nvPr>
        </p:nvGraphicFramePr>
        <p:xfrm>
          <a:off x="1356851" y="2871347"/>
          <a:ext cx="6430297" cy="792480"/>
        </p:xfrm>
        <a:graphic>
          <a:graphicData uri="http://schemas.openxmlformats.org/drawingml/2006/table">
            <a:tbl>
              <a:tblPr firstRow="1" bandRow="1">
                <a:tableStyleId>{2D5ABB26-0587-4C30-8999-92F81FD0307C}</a:tableStyleId>
              </a:tblPr>
              <a:tblGrid>
                <a:gridCol w="6430297">
                  <a:extLst>
                    <a:ext uri="{9D8B030D-6E8A-4147-A177-3AD203B41FA5}">
                      <a16:colId xmlns:a16="http://schemas.microsoft.com/office/drawing/2014/main" val="2530479790"/>
                    </a:ext>
                  </a:extLst>
                </a:gridCol>
              </a:tblGrid>
              <a:tr h="370840">
                <a:tc>
                  <a:txBody>
                    <a:bodyPr/>
                    <a:lstStyle/>
                    <a:p>
                      <a:pPr algn="ctr"/>
                      <a:r>
                        <a:rPr lang="en-US" sz="2000" dirty="0"/>
                        <a:t>Manan Jain</a:t>
                      </a:r>
                      <a:endParaRPr lang="en-IN" sz="2000" dirty="0"/>
                    </a:p>
                  </a:txBody>
                  <a:tcPr/>
                </a:tc>
                <a:extLst>
                  <a:ext uri="{0D108BD9-81ED-4DB2-BD59-A6C34878D82A}">
                    <a16:rowId xmlns:a16="http://schemas.microsoft.com/office/drawing/2014/main" val="705331329"/>
                  </a:ext>
                </a:extLst>
              </a:tr>
              <a:tr h="370840">
                <a:tc>
                  <a:txBody>
                    <a:bodyPr/>
                    <a:lstStyle/>
                    <a:p>
                      <a:pPr algn="ctr"/>
                      <a:r>
                        <a:rPr lang="en-US" sz="2000" dirty="0"/>
                        <a:t>2210990551</a:t>
                      </a:r>
                      <a:endParaRPr lang="en-IN" sz="2000" dirty="0"/>
                    </a:p>
                  </a:txBody>
                  <a:tcPr/>
                </a:tc>
                <a:extLst>
                  <a:ext uri="{0D108BD9-81ED-4DB2-BD59-A6C34878D82A}">
                    <a16:rowId xmlns:a16="http://schemas.microsoft.com/office/drawing/2014/main" val="137326777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b="1" dirty="0">
                <a:latin typeface="Times New Roman" panose="02020603050405020304" pitchFamily="18" charset="0"/>
                <a:cs typeface="Times New Roman" panose="02020603050405020304" pitchFamily="18" charset="0"/>
              </a:rPr>
              <a:t>Contents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27326"/>
            <a:ext cx="8838720" cy="5229194"/>
          </a:xfrm>
          <a:prstGeom prst="rect">
            <a:avLst/>
          </a:prstGeom>
          <a:noFill/>
          <a:ln w="9360">
            <a:noFill/>
          </a:ln>
        </p:spPr>
        <p:txBody>
          <a:bodyPr>
            <a:noAutofit/>
          </a:bodyPr>
          <a:lstStyle/>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Abstract </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Objectives &amp; Problem Statement </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Methodology </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Tools and Technologies</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Implementation </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Major Findings/Results</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Conclusion &amp; Future Scope</a:t>
            </a:r>
          </a:p>
          <a:p>
            <a:pPr marL="342900" indent="-342900">
              <a:lnSpc>
                <a:spcPct val="15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References</a:t>
            </a: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3CE95-E211-74D8-9928-CD9FD761842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Abstract</a:t>
            </a:r>
          </a:p>
        </p:txBody>
      </p:sp>
      <p:sp>
        <p:nvSpPr>
          <p:cNvPr id="3" name="Subtitle 2">
            <a:extLst>
              <a:ext uri="{FF2B5EF4-FFF2-40B4-BE49-F238E27FC236}">
                <a16:creationId xmlns:a16="http://schemas.microsoft.com/office/drawing/2014/main" id="{06FE1115-2DA0-CF15-AE5A-FAB9D4CFA35E}"/>
              </a:ext>
            </a:extLst>
          </p:cNvPr>
          <p:cNvSpPr>
            <a:spLocks noGrp="1"/>
          </p:cNvSpPr>
          <p:nvPr>
            <p:ph type="subTitle"/>
          </p:nvPr>
        </p:nvSpPr>
        <p:spPr>
          <a:xfrm>
            <a:off x="457200" y="914040"/>
            <a:ext cx="8229240" cy="5548306"/>
          </a:xfrm>
        </p:spPr>
        <p:txBody>
          <a:bodyPr/>
          <a:lstStyle/>
          <a:p>
            <a:r>
              <a:rPr lang="en-US" sz="2400" dirty="0">
                <a:latin typeface="Times New Roman" panose="02020603050405020304" pitchFamily="18" charset="0"/>
                <a:cs typeface="Times New Roman" panose="02020603050405020304" pitchFamily="18" charset="0"/>
              </a:rPr>
              <a:t>This project focuses on predicting loan approval using machine learning algorithms. Traditional loan approval systems are time-consuming and prone to human error. To improve efficiency and accuracy, three machine learning algorithms—Logistic Regression, KNN, and Naive Bayes—were implemented and compared. The dataset was preprocessed using missing value handling, encoding, and feature scaling techniques. Experimental results showed that Logistic Regression performed best due to its balanced accuracy and interpretability. The project demonstrates how machine learning can improve loan approval systems in financial institutions.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8107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01263-218D-E233-9A38-0B1E32FEA8C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Introduction</a:t>
            </a:r>
          </a:p>
        </p:txBody>
      </p:sp>
      <p:sp>
        <p:nvSpPr>
          <p:cNvPr id="3" name="Subtitle 2">
            <a:extLst>
              <a:ext uri="{FF2B5EF4-FFF2-40B4-BE49-F238E27FC236}">
                <a16:creationId xmlns:a16="http://schemas.microsoft.com/office/drawing/2014/main" id="{B0039D3D-F42E-A125-D1BD-3F7DF5B6F7F0}"/>
              </a:ext>
            </a:extLst>
          </p:cNvPr>
          <p:cNvSpPr>
            <a:spLocks noGrp="1"/>
          </p:cNvSpPr>
          <p:nvPr>
            <p:ph type="subTitle"/>
          </p:nvPr>
        </p:nvSpPr>
        <p:spPr>
          <a:xfrm>
            <a:off x="457200" y="668215"/>
            <a:ext cx="8229240" cy="5495193"/>
          </a:xfrm>
        </p:spPr>
        <p:txBody>
          <a:bodyPr/>
          <a:lstStyle/>
          <a:p>
            <a:r>
              <a:rPr lang="en-US" sz="2400" dirty="0">
                <a:latin typeface="Times New Roman" panose="02020603050405020304" pitchFamily="18" charset="0"/>
                <a:cs typeface="Times New Roman" panose="02020603050405020304" pitchFamily="18" charset="0"/>
              </a:rPr>
              <a:t>The banking sector processes a large number of loan applications daily. Traditional loan approval methods rely on manual verification, which is slow and may introduce bias. Machine learning provides automated and intelligent decision-making by analyzing historical applicant data. This project compares Logistic Regression, KNN, and Naive Bayes algorithms to identify the most suitable model for loan prediction.</a:t>
            </a:r>
          </a:p>
          <a:p>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108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6773-C2BF-0B00-CE11-3D676A50FCF8}"/>
              </a:ext>
            </a:extLst>
          </p:cNvPr>
          <p:cNvSpPr>
            <a:spLocks noGrp="1"/>
          </p:cNvSpPr>
          <p:nvPr>
            <p:ph type="title"/>
          </p:nvPr>
        </p:nvSpPr>
        <p:spPr>
          <a:xfrm>
            <a:off x="-1" y="0"/>
            <a:ext cx="6371303" cy="914040"/>
          </a:xfrm>
        </p:spPr>
        <p:txBody>
          <a:bodyPr/>
          <a:lstStyle/>
          <a:p>
            <a:pPr algn="ctr"/>
            <a:r>
              <a:rPr lang="en-IN" sz="3200" b="1" dirty="0">
                <a:latin typeface="Times New Roman" panose="02020603050405020304" pitchFamily="18" charset="0"/>
                <a:cs typeface="Times New Roman" panose="02020603050405020304" pitchFamily="18" charset="0"/>
              </a:rPr>
              <a:t>Objectives &amp; Problem Statement</a:t>
            </a:r>
          </a:p>
        </p:txBody>
      </p:sp>
      <p:sp>
        <p:nvSpPr>
          <p:cNvPr id="3" name="Subtitle 2">
            <a:extLst>
              <a:ext uri="{FF2B5EF4-FFF2-40B4-BE49-F238E27FC236}">
                <a16:creationId xmlns:a16="http://schemas.microsoft.com/office/drawing/2014/main" id="{78ECAAB5-9C17-C10A-91D2-C1B309A6BBD7}"/>
              </a:ext>
            </a:extLst>
          </p:cNvPr>
          <p:cNvSpPr>
            <a:spLocks noGrp="1"/>
          </p:cNvSpPr>
          <p:nvPr>
            <p:ph type="subTitle"/>
          </p:nvPr>
        </p:nvSpPr>
        <p:spPr>
          <a:xfrm>
            <a:off x="457200" y="518746"/>
            <a:ext cx="8229240" cy="6339253"/>
          </a:xfrm>
        </p:spPr>
        <p:txBody>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Problem Statement</a:t>
            </a:r>
          </a:p>
          <a:p>
            <a:r>
              <a:rPr lang="en-US" sz="2400" dirty="0">
                <a:latin typeface="Times New Roman" panose="02020603050405020304" pitchFamily="18" charset="0"/>
                <a:cs typeface="Times New Roman" panose="02020603050405020304" pitchFamily="18" charset="0"/>
              </a:rPr>
              <a:t>Incorrect loan approval decisions may lead to financial losses or rejection of eligible customers. Traditional systems struggle with large datasets and complex relationships among applicant features. Therefore, an efficient machine learning-based loan prediction system is required.</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Objectives</a:t>
            </a:r>
          </a:p>
          <a:p>
            <a:r>
              <a:rPr lang="en-US" sz="2400" dirty="0">
                <a:latin typeface="Times New Roman" panose="02020603050405020304" pitchFamily="18" charset="0"/>
                <a:cs typeface="Times New Roman" panose="02020603050405020304" pitchFamily="18" charset="0"/>
              </a:rPr>
              <a:t>To implement Logistic Regression, KNN, and Naive Bayes algorithms </a:t>
            </a:r>
          </a:p>
          <a:p>
            <a:r>
              <a:rPr lang="en-US" sz="2400" dirty="0">
                <a:latin typeface="Times New Roman" panose="02020603050405020304" pitchFamily="18" charset="0"/>
                <a:cs typeface="Times New Roman" panose="02020603050405020304" pitchFamily="18" charset="0"/>
              </a:rPr>
              <a:t>To preprocess the dataset for better performance </a:t>
            </a:r>
          </a:p>
          <a:p>
            <a:r>
              <a:rPr lang="en-US" sz="2400" dirty="0">
                <a:latin typeface="Times New Roman" panose="02020603050405020304" pitchFamily="18" charset="0"/>
                <a:cs typeface="Times New Roman" panose="02020603050405020304" pitchFamily="18" charset="0"/>
              </a:rPr>
              <a:t>To evaluate models using accuracy, precision, recall, and F1-score </a:t>
            </a:r>
          </a:p>
          <a:p>
            <a:r>
              <a:rPr lang="en-US" sz="2400" dirty="0">
                <a:latin typeface="Times New Roman" panose="02020603050405020304" pitchFamily="18" charset="0"/>
                <a:cs typeface="Times New Roman" panose="02020603050405020304" pitchFamily="18" charset="0"/>
              </a:rPr>
              <a:t>To compare the strengths and limitations of each algorithm</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94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548DC-6F5D-20FD-6FAA-8FA3F4F67A5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E198490F-DA62-A4B6-26B3-1BC8D15EC3BE}"/>
              </a:ext>
            </a:extLst>
          </p:cNvPr>
          <p:cNvSpPr>
            <a:spLocks noGrp="1"/>
          </p:cNvSpPr>
          <p:nvPr>
            <p:ph type="subTitle"/>
          </p:nvPr>
        </p:nvSpPr>
        <p:spPr>
          <a:xfrm>
            <a:off x="457380" y="1385498"/>
            <a:ext cx="8229240" cy="4835769"/>
          </a:xfrm>
        </p:spPr>
        <p:txBody>
          <a:bodyPr/>
          <a:lstStyle/>
          <a:p>
            <a:r>
              <a:rPr lang="en-US" sz="2100" dirty="0">
                <a:latin typeface="Times New Roman" panose="02020603050405020304" pitchFamily="18" charset="0"/>
                <a:cs typeface="Times New Roman" panose="02020603050405020304" pitchFamily="18" charset="0"/>
              </a:rPr>
              <a:t>The project follows a machine learning pipeline including data collection, preprocessing, model training, and evaluation.</a:t>
            </a:r>
          </a:p>
          <a:p>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2.1 Dataset Collection</a:t>
            </a:r>
          </a:p>
          <a:p>
            <a:r>
              <a:rPr lang="en-US" sz="2100" dirty="0">
                <a:latin typeface="Times New Roman" panose="02020603050405020304" pitchFamily="18" charset="0"/>
                <a:cs typeface="Times New Roman" panose="02020603050405020304" pitchFamily="18" charset="0"/>
              </a:rPr>
              <a:t>The dataset contains historical loan application records with attributes such as income, education, loan amount, and credit history.</a:t>
            </a:r>
          </a:p>
          <a:p>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2.2 Data Preprocessing</a:t>
            </a:r>
          </a:p>
          <a:p>
            <a:r>
              <a:rPr lang="en-US" sz="2100" dirty="0">
                <a:latin typeface="Times New Roman" panose="02020603050405020304" pitchFamily="18" charset="0"/>
                <a:cs typeface="Times New Roman" panose="02020603050405020304" pitchFamily="18" charset="0"/>
              </a:rPr>
              <a:t>Missing values were handled using mean/mode imputation </a:t>
            </a:r>
          </a:p>
          <a:p>
            <a:r>
              <a:rPr lang="en-US" sz="2100" dirty="0">
                <a:latin typeface="Times New Roman" panose="02020603050405020304" pitchFamily="18" charset="0"/>
                <a:cs typeface="Times New Roman" panose="02020603050405020304" pitchFamily="18" charset="0"/>
              </a:rPr>
              <a:t>Categorical variables were encoded into numerical form </a:t>
            </a:r>
          </a:p>
          <a:p>
            <a:r>
              <a:rPr lang="en-US" sz="2100" dirty="0">
                <a:latin typeface="Times New Roman" panose="02020603050405020304" pitchFamily="18" charset="0"/>
                <a:cs typeface="Times New Roman" panose="02020603050405020304" pitchFamily="18" charset="0"/>
              </a:rPr>
              <a:t>Feature scaling was applied for better model performance </a:t>
            </a:r>
          </a:p>
          <a:p>
            <a:r>
              <a:rPr lang="en-US" sz="2100" dirty="0">
                <a:latin typeface="Times New Roman" panose="02020603050405020304" pitchFamily="18" charset="0"/>
                <a:cs typeface="Times New Roman" panose="02020603050405020304" pitchFamily="18" charset="0"/>
              </a:rPr>
              <a:t>Dataset was divided into training and testing sets</a:t>
            </a:r>
          </a:p>
          <a:p>
            <a:r>
              <a:rPr lang="en-US" sz="2100" dirty="0">
                <a:latin typeface="Times New Roman" panose="02020603050405020304" pitchFamily="18" charset="0"/>
                <a:cs typeface="Times New Roman" panose="02020603050405020304" pitchFamily="18" charset="0"/>
              </a:rPr>
              <a:t> </a:t>
            </a:r>
          </a:p>
          <a:p>
            <a:r>
              <a:rPr lang="en-US" sz="2100" b="1" dirty="0">
                <a:latin typeface="Times New Roman" panose="02020603050405020304" pitchFamily="18" charset="0"/>
                <a:cs typeface="Times New Roman" panose="02020603050405020304" pitchFamily="18" charset="0"/>
              </a:rPr>
              <a:t>2.3 Machine Learning Models</a:t>
            </a:r>
          </a:p>
          <a:p>
            <a:r>
              <a:rPr lang="en-US" sz="2100" dirty="0">
                <a:latin typeface="Times New Roman" panose="02020603050405020304" pitchFamily="18" charset="0"/>
                <a:cs typeface="Times New Roman" panose="02020603050405020304" pitchFamily="18" charset="0"/>
              </a:rPr>
              <a:t>Logistic Regression for binary classification </a:t>
            </a:r>
          </a:p>
          <a:p>
            <a:r>
              <a:rPr lang="en-US" sz="2100" dirty="0">
                <a:latin typeface="Times New Roman" panose="02020603050405020304" pitchFamily="18" charset="0"/>
                <a:cs typeface="Times New Roman" panose="02020603050405020304" pitchFamily="18" charset="0"/>
              </a:rPr>
              <a:t>KNN for distance-based prediction </a:t>
            </a:r>
          </a:p>
          <a:p>
            <a:r>
              <a:rPr lang="en-US" sz="2100" dirty="0">
                <a:latin typeface="Times New Roman" panose="02020603050405020304" pitchFamily="18" charset="0"/>
                <a:cs typeface="Times New Roman" panose="02020603050405020304" pitchFamily="18" charset="0"/>
              </a:rPr>
              <a:t>Naive Bayes for probabilistic classification</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883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41D1-9014-8836-4FE6-C035D9F5AF65}"/>
              </a:ext>
            </a:extLst>
          </p:cNvPr>
          <p:cNvSpPr>
            <a:spLocks noGrp="1"/>
          </p:cNvSpPr>
          <p:nvPr>
            <p:ph type="title"/>
          </p:nvPr>
        </p:nvSpPr>
        <p:spPr>
          <a:xfrm>
            <a:off x="0" y="0"/>
            <a:ext cx="6253316" cy="914040"/>
          </a:xfrm>
        </p:spPr>
        <p:txBody>
          <a:bodyPr/>
          <a:lstStyle/>
          <a:p>
            <a:r>
              <a:rPr lang="en-US" sz="3000" b="1" dirty="0"/>
              <a:t>  Tools and Technologies</a:t>
            </a:r>
          </a:p>
        </p:txBody>
      </p:sp>
      <p:sp>
        <p:nvSpPr>
          <p:cNvPr id="3" name="Subtitle 2">
            <a:extLst>
              <a:ext uri="{FF2B5EF4-FFF2-40B4-BE49-F238E27FC236}">
                <a16:creationId xmlns:a16="http://schemas.microsoft.com/office/drawing/2014/main" id="{C5FAA6E1-48EF-78C6-AB55-091A841F4FEA}"/>
              </a:ext>
            </a:extLst>
          </p:cNvPr>
          <p:cNvSpPr>
            <a:spLocks noGrp="1"/>
          </p:cNvSpPr>
          <p:nvPr>
            <p:ph type="subTitle"/>
          </p:nvPr>
        </p:nvSpPr>
        <p:spPr>
          <a:xfrm>
            <a:off x="307731" y="1301260"/>
            <a:ext cx="8229240" cy="4403631"/>
          </a:xfrm>
        </p:spPr>
        <p:txBody>
          <a:bodyPr/>
          <a:lstStyle/>
          <a:p>
            <a:r>
              <a:rPr lang="en-US" sz="2400" dirty="0">
                <a:latin typeface="Times New Roman" panose="02020603050405020304" pitchFamily="18" charset="0"/>
                <a:cs typeface="Times New Roman" panose="02020603050405020304" pitchFamily="18" charset="0"/>
              </a:rPr>
              <a:t>Python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NumPy and Pandas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Scikit-learn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Matplotlib and Seaborn </a:t>
            </a:r>
          </a:p>
          <a:p>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297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0C2-3364-4DB2-3FF0-9E03E3F1514B}"/>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3" name="Subtitle 2">
            <a:extLst>
              <a:ext uri="{FF2B5EF4-FFF2-40B4-BE49-F238E27FC236}">
                <a16:creationId xmlns:a16="http://schemas.microsoft.com/office/drawing/2014/main" id="{EEF972B5-3B85-7AD9-7BE0-05FD95E6FFBA}"/>
              </a:ext>
            </a:extLst>
          </p:cNvPr>
          <p:cNvSpPr>
            <a:spLocks noGrp="1"/>
          </p:cNvSpPr>
          <p:nvPr>
            <p:ph type="subTitle"/>
          </p:nvPr>
        </p:nvSpPr>
        <p:spPr>
          <a:xfrm>
            <a:off x="457199" y="1151792"/>
            <a:ext cx="8254181" cy="5022866"/>
          </a:xfrm>
        </p:spPr>
        <p:txBody>
          <a:bodyPr/>
          <a:lstStyle/>
          <a:p>
            <a:r>
              <a:rPr lang="en-US" sz="2400" dirty="0">
                <a:latin typeface="Times New Roman" panose="02020603050405020304" pitchFamily="18" charset="0"/>
                <a:cs typeface="Times New Roman" panose="02020603050405020304" pitchFamily="18" charset="0"/>
              </a:rPr>
              <a:t>The implementation of the loan approval prediction system followed a machine learning pipeline consisting of data preprocessing, model training, and prediction generation.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System Pipeline</a:t>
            </a:r>
          </a:p>
          <a:p>
            <a:r>
              <a:rPr lang="en-US" sz="2400" dirty="0">
                <a:latin typeface="Times New Roman" panose="02020603050405020304" pitchFamily="18" charset="0"/>
                <a:cs typeface="Times New Roman" panose="02020603050405020304" pitchFamily="18" charset="0"/>
              </a:rPr>
              <a:t>Dataset Collection → Data Preprocessing → Feature Engineering → Model Training → Loan Prediction</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71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6AEA4-C867-2A5F-0E7B-40214E818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A4F3F-69F9-5E19-5328-59A4891C99C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3" name="Subtitle 2">
            <a:extLst>
              <a:ext uri="{FF2B5EF4-FFF2-40B4-BE49-F238E27FC236}">
                <a16:creationId xmlns:a16="http://schemas.microsoft.com/office/drawing/2014/main" id="{E0367CA3-EE04-2298-A336-179A8DE1C7C6}"/>
              </a:ext>
            </a:extLst>
          </p:cNvPr>
          <p:cNvSpPr>
            <a:spLocks noGrp="1"/>
          </p:cNvSpPr>
          <p:nvPr>
            <p:ph type="subTitle"/>
          </p:nvPr>
        </p:nvSpPr>
        <p:spPr>
          <a:xfrm>
            <a:off x="457199" y="1151792"/>
            <a:ext cx="8254181" cy="5022866"/>
          </a:xfrm>
        </p:spPr>
        <p:txBody>
          <a:bodyPr/>
          <a:lstStyle/>
          <a:p>
            <a:r>
              <a:rPr lang="en-US" sz="2200" b="1" dirty="0">
                <a:latin typeface="Times New Roman" panose="02020603050405020304" pitchFamily="18" charset="0"/>
                <a:cs typeface="Times New Roman" panose="02020603050405020304" pitchFamily="18" charset="0"/>
              </a:rPr>
              <a:t>Data Preprocessing</a:t>
            </a:r>
          </a:p>
          <a:p>
            <a:r>
              <a:rPr lang="en-US" sz="2200" dirty="0">
                <a:latin typeface="Times New Roman" panose="02020603050405020304" pitchFamily="18" charset="0"/>
                <a:cs typeface="Times New Roman" panose="02020603050405020304" pitchFamily="18" charset="0"/>
              </a:rPr>
              <a:t>Missing values were handled, categorical variables were encoded, and feature scaling was applied to improve model performance.</a:t>
            </a:r>
          </a:p>
          <a:p>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Model Training</a:t>
            </a:r>
          </a:p>
          <a:p>
            <a:r>
              <a:rPr lang="en-US" sz="2200" dirty="0">
                <a:latin typeface="Times New Roman" panose="02020603050405020304" pitchFamily="18" charset="0"/>
                <a:cs typeface="Times New Roman" panose="02020603050405020304" pitchFamily="18" charset="0"/>
              </a:rPr>
              <a:t>The dataset was divided into training and testing sets using an 80:20 ratio. Logistic Regression, KNN, and Naive Bayes algorithms were trained on the processed dataset.</a:t>
            </a:r>
          </a:p>
          <a:p>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Prediction System</a:t>
            </a:r>
          </a:p>
          <a:p>
            <a:r>
              <a:rPr lang="en-US" sz="2200" dirty="0">
                <a:latin typeface="Times New Roman" panose="02020603050405020304" pitchFamily="18" charset="0"/>
                <a:cs typeface="Times New Roman" panose="02020603050405020304" pitchFamily="18" charset="0"/>
              </a:rPr>
              <a:t>The trained models predicted whether a loan application should be approved or rejected based on applicant details.</a:t>
            </a:r>
          </a:p>
          <a:p>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Performance Evaluation</a:t>
            </a:r>
          </a:p>
          <a:p>
            <a:r>
              <a:rPr lang="en-US" sz="2200" dirty="0">
                <a:latin typeface="Times New Roman" panose="02020603050405020304" pitchFamily="18" charset="0"/>
                <a:cs typeface="Times New Roman" panose="02020603050405020304" pitchFamily="18" charset="0"/>
              </a:rPr>
              <a:t>The models were evaluated using Accuracy, Precision, Recall, and F1-Score. Logistic Regression achieved the best overall performance.</a:t>
            </a:r>
          </a:p>
        </p:txBody>
      </p:sp>
    </p:spTree>
    <p:extLst>
      <p:ext uri="{BB962C8B-B14F-4D97-AF65-F5344CB8AC3E}">
        <p14:creationId xmlns:p14="http://schemas.microsoft.com/office/powerpoint/2010/main" val="38596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EFDC9-B958-7115-9ADC-C8E4CE3316D3}"/>
              </a:ext>
            </a:extLst>
          </p:cNvPr>
          <p:cNvSpPr>
            <a:spLocks noGrp="1"/>
          </p:cNvSpPr>
          <p:nvPr>
            <p:ph type="title"/>
          </p:nvPr>
        </p:nvSpPr>
        <p:spPr/>
        <p:txBody>
          <a:bodyPr/>
          <a:lstStyle/>
          <a:p>
            <a:pPr algn="ctr"/>
            <a:r>
              <a:rPr lang="en-IN" sz="4000" b="1" dirty="0">
                <a:latin typeface="Times New Roman" panose="02020603050405020304" pitchFamily="18" charset="0"/>
                <a:cs typeface="Times New Roman" panose="02020603050405020304" pitchFamily="18" charset="0"/>
              </a:rPr>
              <a:t>Major Findings</a:t>
            </a:r>
          </a:p>
        </p:txBody>
      </p:sp>
      <p:sp>
        <p:nvSpPr>
          <p:cNvPr id="3" name="Subtitle 2">
            <a:extLst>
              <a:ext uri="{FF2B5EF4-FFF2-40B4-BE49-F238E27FC236}">
                <a16:creationId xmlns:a16="http://schemas.microsoft.com/office/drawing/2014/main" id="{2CF8D25E-5CD4-2245-C94A-278E7ABCFCEF}"/>
              </a:ext>
            </a:extLst>
          </p:cNvPr>
          <p:cNvSpPr>
            <a:spLocks noGrp="1"/>
          </p:cNvSpPr>
          <p:nvPr>
            <p:ph type="subTitle"/>
          </p:nvPr>
        </p:nvSpPr>
        <p:spPr>
          <a:xfrm>
            <a:off x="87099" y="457020"/>
            <a:ext cx="8317145" cy="5907769"/>
          </a:xfrm>
        </p:spPr>
        <p:txBody>
          <a:bodyPr/>
          <a:lstStyle/>
          <a:p>
            <a:pPr marL="0" indent="0">
              <a:buNone/>
            </a:pPr>
            <a:r>
              <a:rPr lang="en-IN" sz="2200" b="1" dirty="0">
                <a:latin typeface="Times New Roman" panose="02020603050405020304" pitchFamily="18" charset="0"/>
                <a:cs typeface="Times New Roman" panose="02020603050405020304" pitchFamily="18" charset="0"/>
              </a:rPr>
              <a:t>Performance Metrics:</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E45417FA-504D-58D7-D95D-26C989494CC2}"/>
              </a:ext>
            </a:extLst>
          </p:cNvPr>
          <p:cNvGraphicFramePr>
            <a:graphicFrameLocks noGrp="1"/>
          </p:cNvGraphicFramePr>
          <p:nvPr>
            <p:extLst>
              <p:ext uri="{D42A27DB-BD31-4B8C-83A1-F6EECF244321}">
                <p14:modId xmlns:p14="http://schemas.microsoft.com/office/powerpoint/2010/main" val="702223389"/>
              </p:ext>
            </p:extLst>
          </p:nvPr>
        </p:nvGraphicFramePr>
        <p:xfrm>
          <a:off x="945162" y="1615660"/>
          <a:ext cx="7253676" cy="2755888"/>
        </p:xfrm>
        <a:graphic>
          <a:graphicData uri="http://schemas.openxmlformats.org/drawingml/2006/table">
            <a:tbl>
              <a:tblPr firstRow="1" bandRow="1">
                <a:tableStyleId>{2D5ABB26-0587-4C30-8999-92F81FD0307C}</a:tableStyleId>
              </a:tblPr>
              <a:tblGrid>
                <a:gridCol w="3626838">
                  <a:extLst>
                    <a:ext uri="{9D8B030D-6E8A-4147-A177-3AD203B41FA5}">
                      <a16:colId xmlns:a16="http://schemas.microsoft.com/office/drawing/2014/main" val="1136451584"/>
                    </a:ext>
                  </a:extLst>
                </a:gridCol>
                <a:gridCol w="3626838">
                  <a:extLst>
                    <a:ext uri="{9D8B030D-6E8A-4147-A177-3AD203B41FA5}">
                      <a16:colId xmlns:a16="http://schemas.microsoft.com/office/drawing/2014/main" val="884757045"/>
                    </a:ext>
                  </a:extLst>
                </a:gridCol>
              </a:tblGrid>
              <a:tr h="393698">
                <a:tc>
                  <a:txBody>
                    <a:bodyPr/>
                    <a:lstStyle/>
                    <a:p>
                      <a:pPr algn="ctr"/>
                      <a:r>
                        <a:rPr lang="en-IN" b="1" dirty="0">
                          <a:latin typeface="Times New Roman" panose="02020603050405020304" pitchFamily="18" charset="0"/>
                          <a:cs typeface="Times New Roman" panose="02020603050405020304" pitchFamily="18" charset="0"/>
                        </a:rPr>
                        <a:t>Metric</a:t>
                      </a:r>
                    </a:p>
                  </a:txBody>
                  <a:tcPr>
                    <a:solidFill>
                      <a:schemeClr val="bg1">
                        <a:lumMod val="95000"/>
                      </a:schemeClr>
                    </a:solidFill>
                  </a:tcPr>
                </a:tc>
                <a:tc>
                  <a:txBody>
                    <a:bodyPr/>
                    <a:lstStyle/>
                    <a:p>
                      <a:pPr algn="ctr"/>
                      <a:r>
                        <a:rPr lang="en-IN" b="1" dirty="0">
                          <a:latin typeface="Times New Roman" panose="02020603050405020304" pitchFamily="18" charset="0"/>
                          <a:cs typeface="Times New Roman" panose="02020603050405020304" pitchFamily="18" charset="0"/>
                        </a:rPr>
                        <a:t>Value</a:t>
                      </a:r>
                    </a:p>
                  </a:txBody>
                  <a:tcPr>
                    <a:solidFill>
                      <a:schemeClr val="bg1">
                        <a:lumMod val="95000"/>
                      </a:schemeClr>
                    </a:solidFill>
                  </a:tcPr>
                </a:tc>
                <a:extLst>
                  <a:ext uri="{0D108BD9-81ED-4DB2-BD59-A6C34878D82A}">
                    <a16:rowId xmlns:a16="http://schemas.microsoft.com/office/drawing/2014/main" val="1107064177"/>
                  </a:ext>
                </a:extLst>
              </a:tr>
              <a:tr h="688972">
                <a:tc>
                  <a:txBody>
                    <a:bodyPr/>
                    <a:lstStyle/>
                    <a:p>
                      <a:pPr algn="ctr"/>
                      <a:r>
                        <a:rPr lang="en-US" b="1" dirty="0"/>
                        <a:t>Logistic Regression</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b="1" dirty="0"/>
                        <a:t>Best overall accuracy and balanced results</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778595055"/>
                  </a:ext>
                </a:extLst>
              </a:tr>
              <a:tr h="984246">
                <a:tc>
                  <a:txBody>
                    <a:bodyPr/>
                    <a:lstStyle/>
                    <a:p>
                      <a:pPr algn="ctr"/>
                      <a:r>
                        <a:rPr lang="en-US" b="1" dirty="0"/>
                        <a:t>KNN</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b="1" dirty="0"/>
                        <a:t>Good for non-linear patterns but computationally expensive</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786738166"/>
                  </a:ext>
                </a:extLst>
              </a:tr>
              <a:tr h="688972">
                <a:tc>
                  <a:txBody>
                    <a:bodyPr/>
                    <a:lstStyle/>
                    <a:p>
                      <a:pPr algn="ctr"/>
                      <a:r>
                        <a:rPr lang="en-US" b="1" dirty="0"/>
                        <a:t>Naive Bayes</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b="1" dirty="0"/>
                        <a:t>Fast predictions with moderate accuracy</a:t>
                      </a:r>
                      <a:endParaRPr lang="en-IN" b="1" dirty="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2902438136"/>
                  </a:ext>
                </a:extLst>
              </a:tr>
            </a:tbl>
          </a:graphicData>
        </a:graphic>
      </p:graphicFrame>
      <p:sp>
        <p:nvSpPr>
          <p:cNvPr id="4" name="Rectangle 1">
            <a:extLst>
              <a:ext uri="{FF2B5EF4-FFF2-40B4-BE49-F238E27FC236}">
                <a16:creationId xmlns:a16="http://schemas.microsoft.com/office/drawing/2014/main" id="{36406663-8727-1FD7-3CA0-3FE5AA33F1B1}"/>
              </a:ext>
            </a:extLst>
          </p:cNvPr>
          <p:cNvSpPr>
            <a:spLocks noGrp="1" noChangeArrowheads="1"/>
          </p:cNvSpPr>
          <p:nvPr>
            <p:ph type="subTitle"/>
          </p:nvPr>
        </p:nvSpPr>
        <p:spPr bwMode="auto">
          <a:xfrm>
            <a:off x="136080" y="4549842"/>
            <a:ext cx="633859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achieved the best overall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KNN captured complex feature relationships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Naive Bayes was computationally efficient </a:t>
            </a:r>
          </a:p>
        </p:txBody>
      </p:sp>
    </p:spTree>
    <p:extLst>
      <p:ext uri="{BB962C8B-B14F-4D97-AF65-F5344CB8AC3E}">
        <p14:creationId xmlns:p14="http://schemas.microsoft.com/office/powerpoint/2010/main" val="267886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9C0D6-A442-0E76-FD60-1A824DEA254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Conclusion &amp; Future Scope</a:t>
            </a:r>
          </a:p>
        </p:txBody>
      </p:sp>
      <p:sp>
        <p:nvSpPr>
          <p:cNvPr id="3" name="Subtitle 2">
            <a:extLst>
              <a:ext uri="{FF2B5EF4-FFF2-40B4-BE49-F238E27FC236}">
                <a16:creationId xmlns:a16="http://schemas.microsoft.com/office/drawing/2014/main" id="{A9E73048-AF9C-0E86-9AA8-D469133CFBA9}"/>
              </a:ext>
            </a:extLst>
          </p:cNvPr>
          <p:cNvSpPr>
            <a:spLocks noGrp="1"/>
          </p:cNvSpPr>
          <p:nvPr>
            <p:ph type="subTitle"/>
          </p:nvPr>
        </p:nvSpPr>
        <p:spPr>
          <a:xfrm>
            <a:off x="432619" y="1055077"/>
            <a:ext cx="8253820" cy="5292969"/>
          </a:xfrm>
        </p:spPr>
        <p:txBody>
          <a:bodyPr/>
          <a:lstStyle/>
          <a:p>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project demonstrates that machine learning algorithms can improve loan approval systems by increasing prediction accuracy and reducing manual effort. Logistic Regression proved to be the most effective algorithm among the evaluated models.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Future Scope</a:t>
            </a:r>
          </a:p>
          <a:p>
            <a:r>
              <a:rPr lang="en-US" sz="2400" dirty="0">
                <a:latin typeface="Times New Roman" panose="02020603050405020304" pitchFamily="18" charset="0"/>
                <a:cs typeface="Times New Roman" panose="02020603050405020304" pitchFamily="18" charset="0"/>
              </a:rPr>
              <a:t>Use advanced models like Random Forest and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Implement deep learning techniques </a:t>
            </a:r>
          </a:p>
          <a:p>
            <a:r>
              <a:rPr lang="en-US" sz="2400" dirty="0">
                <a:latin typeface="Times New Roman" panose="02020603050405020304" pitchFamily="18" charset="0"/>
                <a:cs typeface="Times New Roman" panose="02020603050405020304" pitchFamily="18" charset="0"/>
              </a:rPr>
              <a:t>Deploy the system in real-time banking environments</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17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DCEE-9E49-A1F7-08EF-07A62075555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Subtitle 2">
            <a:extLst>
              <a:ext uri="{FF2B5EF4-FFF2-40B4-BE49-F238E27FC236}">
                <a16:creationId xmlns:a16="http://schemas.microsoft.com/office/drawing/2014/main" id="{5F2CF04A-14B0-EE3F-7ED3-3A9F6417922D}"/>
              </a:ext>
            </a:extLst>
          </p:cNvPr>
          <p:cNvSpPr>
            <a:spLocks noGrp="1"/>
          </p:cNvSpPr>
          <p:nvPr>
            <p:ph type="subTitle"/>
          </p:nvPr>
        </p:nvSpPr>
        <p:spPr>
          <a:xfrm>
            <a:off x="241071" y="914040"/>
            <a:ext cx="8489974" cy="5778445"/>
          </a:xfrm>
        </p:spPr>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[1] S. Lessmann, B. </a:t>
            </a:r>
            <a:r>
              <a:rPr lang="en-US" sz="2000" dirty="0" err="1">
                <a:latin typeface="Times New Roman" panose="02020603050405020304" pitchFamily="18" charset="0"/>
                <a:cs typeface="Times New Roman" panose="02020603050405020304" pitchFamily="18" charset="0"/>
              </a:rPr>
              <a:t>Baesens</a:t>
            </a:r>
            <a:r>
              <a:rPr lang="en-US" sz="2000" dirty="0">
                <a:latin typeface="Times New Roman" panose="02020603050405020304" pitchFamily="18" charset="0"/>
                <a:cs typeface="Times New Roman" panose="02020603050405020304" pitchFamily="18" charset="0"/>
              </a:rPr>
              <a:t>, H. V. Seow, and L. C. Thomas, “Benchmarking State-of-the-Art Classification Algorithms for Credit Scoring,” European Journal of Operational Research, vol. 247, no. 1, pp. 124–136, 2015.</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 R. Bhattacharyya, S. Jha, K. </a:t>
            </a:r>
            <a:r>
              <a:rPr lang="en-US" sz="2000" dirty="0" err="1">
                <a:latin typeface="Times New Roman" panose="02020603050405020304" pitchFamily="18" charset="0"/>
                <a:cs typeface="Times New Roman" panose="02020603050405020304" pitchFamily="18" charset="0"/>
              </a:rPr>
              <a:t>Tharakunnel</a:t>
            </a:r>
            <a:r>
              <a:rPr lang="en-US" sz="2000" dirty="0">
                <a:latin typeface="Times New Roman" panose="02020603050405020304" pitchFamily="18" charset="0"/>
                <a:cs typeface="Times New Roman" panose="02020603050405020304" pitchFamily="18" charset="0"/>
              </a:rPr>
              <a:t>, and J. C. Westland, “Data Mining for Credit Card Fraud: A Comparative Study,” Decision Support Systems, vol. 50, no. 3,pp. 602–613, 2011.</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[3] D. West, “Neural Network Credit Scoring Models,” Computers &amp; Operations Research, vol. 27, no. 11–12, pp. 1131–1152, 2000.</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[4] P. Kaur and M. Singh, “Prediction of Loan Approval Using Machine Learning Techniques,” International Journal of Advanced Research in Computer Science, vol.9, no. 1, pp. 56–60, 2018.</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[5] S. Maldonado, J. López, and C. </a:t>
            </a:r>
            <a:r>
              <a:rPr lang="en-US" sz="2000" dirty="0" err="1">
                <a:latin typeface="Times New Roman" panose="02020603050405020304" pitchFamily="18" charset="0"/>
                <a:cs typeface="Times New Roman" panose="02020603050405020304" pitchFamily="18" charset="0"/>
              </a:rPr>
              <a:t>Vairetti</a:t>
            </a:r>
            <a:r>
              <a:rPr lang="en-US" sz="2000" dirty="0">
                <a:latin typeface="Times New Roman" panose="02020603050405020304" pitchFamily="18" charset="0"/>
                <a:cs typeface="Times New Roman" panose="02020603050405020304" pitchFamily="18" charset="0"/>
              </a:rPr>
              <a:t>, “Credit Risk Evaluation Using Machine Learning Techniques,” Expert Systems with Applications, vol. 39,no. 12, pp. 10907–10915, 2012.</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365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b="1" dirty="0">
                <a:latin typeface="Times New Roman" panose="02020603050405020304" pitchFamily="18" charset="0"/>
                <a:cs typeface="Times New Roman" panose="02020603050405020304" pitchFamily="18" charset="0"/>
              </a:rPr>
              <a:t>Thank You</a:t>
            </a:r>
            <a:endParaRPr lang="en-US" sz="54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34778</TotalTime>
  <Words>927</Words>
  <Application>Microsoft Office PowerPoint</Application>
  <PresentationFormat>On-screen Show (4:3)</PresentationFormat>
  <Paragraphs>128</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      Abstract</vt:lpstr>
      <vt:lpstr>     Introduction</vt:lpstr>
      <vt:lpstr>Objectives &amp; Problem Statement</vt:lpstr>
      <vt:lpstr>Methodology</vt:lpstr>
      <vt:lpstr>  Tools and Technologies</vt:lpstr>
      <vt:lpstr>Implementation</vt:lpstr>
      <vt:lpstr>Implementation</vt:lpstr>
      <vt:lpstr>Major Findings</vt:lpstr>
      <vt:lpstr>Conclusion &amp; Future Scope</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Manan Jain</cp:lastModifiedBy>
  <cp:revision>2307</cp:revision>
  <dcterms:created xsi:type="dcterms:W3CDTF">2010-04-09T07:36:15Z</dcterms:created>
  <dcterms:modified xsi:type="dcterms:W3CDTF">2026-05-17T08:56:23Z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